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EFF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1EFF9"/>
                </a:solidFill>
                <a:latin typeface="Arial"/>
              </a:rPr>
              <a:t>Payment amount vs. the 100 XLM mandate limit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A79BFF"/>
            </a:solidFill>
            <a:effectLst/>
          </c:spPr>
          <c:invertIfNegative val="0"/>
          <c:dLbls>
            <c:numFmt formatCode="0&quot; XL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1EFF9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9B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9B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9B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14B4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14B4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cafe_supplier
25 XLM</c:v>
                  </c:pt>
                  <c:pt idx="1">
                    <c:v>cloud_provider
40 XLM</c:v>
                  </c:pt>
                  <c:pt idx="2">
                    <c:v>cafe_supplier
60 XLM</c:v>
                  </c:pt>
                  <c:pt idx="3">
                    <c:v>sketchy_wallet
10 XLM</c:v>
                  </c:pt>
                  <c:pt idx="4">
                    <c:v>cloud_provider
500 XLM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40</c:v>
                </c:pt>
                <c:pt idx="2">
                  <c:v>60</c:v>
                </c:pt>
                <c:pt idx="3">
                  <c:v>10</c:v>
                </c:pt>
                <c:pt idx="4">
                  <c:v>500</c:v>
                </c:pt>
              </c:numCache>
            </c:numRef>
          </c:val>
        </c:ser>
        <c:dLbls>
          <c:numFmt formatCode="0&quot; XL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1EFF9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Mandate limit (100 XLM)</c:v>
                </c:pt>
              </c:strCache>
            </c:strRef>
          </c:tx>
          <c:spPr>
            <a:solidFill>
              <a:srgbClr val="8078B8"/>
            </a:solidFill>
            <a:ln w="25400" cap="flat">
              <a:solidFill>
                <a:srgbClr val="8078B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078B8"/>
              </a:solidFill>
              <a:ln w="9525" cap="flat">
                <a:solidFill>
                  <a:srgbClr val="8078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cafe_supplier
25 XLM</c:v>
                  </c:pt>
                  <c:pt idx="1">
                    <c:v>cloud_provider
40 XLM</c:v>
                  </c:pt>
                  <c:pt idx="2">
                    <c:v>cafe_supplier
60 XLM</c:v>
                  </c:pt>
                  <c:pt idx="3">
                    <c:v>sketchy_wallet
10 XLM</c:v>
                  </c:pt>
                  <c:pt idx="4">
                    <c:v>cloud_provider
500 XLM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78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0"/>
        </c:scaling>
        <c:delete val="0"/>
        <c:axPos val="l"/>
        <c:majorGridlines>
          <c:spPr>
            <a:ln w="12700" cap="flat">
              <a:solidFill>
                <a:srgbClr val="2B26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78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A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078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0A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_dashboard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_explorer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 RULE  No. 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 Ledger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can't write itself a blank check.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mandates enforced on-chain  ·  Soroban  ·  Stellar testnet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-540000">
            <a:off x="9646920" y="4160520"/>
            <a:ext cx="1554480" cy="1554480"/>
          </a:xfrm>
          <a:prstGeom prst="ellipse">
            <a:avLst/>
          </a:prstGeom>
          <a:ln w="25400">
            <a:solidFill>
              <a:srgbClr val="8078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46920" y="4160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agents need to pay for things.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exactly the problem.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6132C"/>
          </a:solidFill>
          <a:ln w="15875">
            <a:solidFill>
              <a:srgbClr val="8078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103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can move money is useful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paying vendors, topping up services, settling invoices without a human in the loop.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16132C"/>
          </a:solidFill>
          <a:ln w="15875">
            <a:solidFill>
              <a:srgbClr val="8078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“trust the agent's own code” doesn't scale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bug, a bad prompt, or a compromised key turns into an unbounded blank check.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16132C"/>
          </a:solidFill>
          <a:ln w="15875">
            <a:solidFill>
              <a:srgbClr val="8078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8463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needs to live somewhere the agent can't touch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in the agent's logic, not in a UI warning, not in a policy nobody checks.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human approval. Enforced on every decision after.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15288" y="27432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1EF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98168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798168" y="33101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 mandate once: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amount + allowlist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267048" y="27432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69968" y="27432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613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52848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Account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52848" y="33101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installed on-chain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Soroban context rule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21728" y="27432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24648" y="27432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613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07528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Payment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107528" y="33101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the mandate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can settle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615288" y="46177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lives in the blockchain — not in the agent's own code.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 at the center. Two contracts serve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126480" cy="3977640"/>
          </a:xfrm>
          <a:prstGeom prst="roundRect">
            <a:avLst>
              <a:gd name="adj" fmla="val 1609"/>
            </a:avLst>
          </a:prstGeom>
          <a:solidFill>
            <a:srgbClr val="16132C"/>
          </a:solidFill>
          <a:ln w="15875">
            <a:solidFill>
              <a:srgbClr val="8078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468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346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mandate-policy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amount per transaction + recipient allowlist. Panics — and reverts the transaction — on any violation. This is the contract every payment is actually judged against.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937760"/>
            <a:ext cx="5394960" cy="0"/>
          </a:xfrm>
          <a:prstGeom prst="line">
            <a:avLst/>
          </a:prstGeom>
          <a:noFill/>
          <a:ln w="12700">
            <a:solidFill>
              <a:srgbClr val="2B26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074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XLM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TX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5074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ALLOWLISTED PAYEES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14884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78040" y="2148840"/>
            <a:ext cx="4434840" cy="1691640"/>
          </a:xfrm>
          <a:prstGeom prst="roundRect">
            <a:avLst>
              <a:gd name="adj" fmla="val 3243"/>
            </a:avLst>
          </a:prstGeom>
          <a:solidFill>
            <a:srgbClr val="1613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52360" y="2331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smart-account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52360" y="27432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on-chain account (OpenZeppelin stellar-accounts). Every call routes through its authorization check first.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43484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178040" y="4434840"/>
            <a:ext cx="4434840" cy="1691640"/>
          </a:xfrm>
          <a:prstGeom prst="roundRect">
            <a:avLst>
              <a:gd name="adj" fmla="val 3243"/>
            </a:avLst>
          </a:prstGeom>
          <a:solidFill>
            <a:srgbClr val="1613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52360" y="4617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ed25519-verifier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50292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request really came from the agent's own bound key — before the mandate is even checked.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A5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 · CONTEXT RULE No. 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mandate used in this demo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once, by a human, at deployment. Never touched again.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448" y="237744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7F5FC"/>
          </a:solidFill>
          <a:ln w="12700">
            <a:solidFill>
              <a:srgbClr val="CBC6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9448" y="2834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XLM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38048" y="3840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spc="50" kern="0" dirty="0">
                <a:solidFill>
                  <a:srgbClr val="5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PER TRANSACTION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49928" y="237744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7F5FC"/>
          </a:solidFill>
          <a:ln w="12700">
            <a:solidFill>
              <a:srgbClr val="CBC6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49928" y="2834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78528" y="3840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spc="50" kern="0" dirty="0">
                <a:solidFill>
                  <a:srgbClr val="5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ALLOWLISTED PAYEES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spc="50" kern="0" dirty="0">
                <a:solidFill>
                  <a:srgbClr val="5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cafe_supplier · cloud_provider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90408" y="2377440"/>
            <a:ext cx="3291840" cy="2377440"/>
          </a:xfrm>
          <a:prstGeom prst="roundRect">
            <a:avLst>
              <a:gd name="adj" fmla="val 2308"/>
            </a:avLst>
          </a:prstGeom>
          <a:solidFill>
            <a:srgbClr val="F7F5FC"/>
          </a:solidFill>
          <a:ln w="12700">
            <a:solidFill>
              <a:srgbClr val="CBC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0408" y="2834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519008" y="3840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spc="50" kern="0" dirty="0">
                <a:solidFill>
                  <a:srgbClr val="5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EXPIRES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09448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once by a human — enforced by contract code from then on.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RIGHT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autonomous agent decisions, submitted live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0408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 rot="-480000">
            <a:off x="1024128" y="5257800"/>
            <a:ext cx="457200" cy="457200"/>
          </a:xfrm>
          <a:prstGeom prst="ellipse">
            <a:avLst/>
          </a:prstGeom>
          <a:ln w="25400">
            <a:solidFill>
              <a:srgbClr val="A79B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4128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 rot="-480000">
            <a:off x="2432304" y="5257800"/>
            <a:ext cx="457200" cy="457200"/>
          </a:xfrm>
          <a:prstGeom prst="ellipse">
            <a:avLst/>
          </a:prstGeom>
          <a:ln w="25400">
            <a:solidFill>
              <a:srgbClr val="A79B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32304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rot="-480000">
            <a:off x="3840480" y="5257800"/>
            <a:ext cx="457200" cy="457200"/>
          </a:xfrm>
          <a:prstGeom prst="ellipse">
            <a:avLst/>
          </a:prstGeom>
          <a:ln w="25400">
            <a:solidFill>
              <a:srgbClr val="A79B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404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rot="480000">
            <a:off x="5248656" y="5257800"/>
            <a:ext cx="457200" cy="457200"/>
          </a:xfrm>
          <a:prstGeom prst="ellipse">
            <a:avLst/>
          </a:prstGeom>
          <a:ln w="25400">
            <a:solidFill>
              <a:srgbClr val="E14B4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48656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480000">
            <a:off x="6656832" y="5257800"/>
            <a:ext cx="457200" cy="457200"/>
          </a:xfrm>
          <a:prstGeom prst="ellipse">
            <a:avLst/>
          </a:prstGeom>
          <a:ln w="25400">
            <a:solidFill>
              <a:srgbClr val="E14B4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56832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E1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8521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settled  ·  2 rejected on-chain  ·  0 silently skipped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955280" y="1691640"/>
            <a:ext cx="3703320" cy="4892040"/>
          </a:xfrm>
          <a:prstGeom prst="rect">
            <a:avLst/>
          </a:prstGeom>
          <a:solidFill>
            <a:srgbClr val="16132C"/>
          </a:solidFill>
          <a:ln w="12700">
            <a:solidFill>
              <a:srgbClr val="4A4470"/>
            </a:solidFill>
            <a:prstDash val="dash"/>
          </a:ln>
        </p:spPr>
      </p:sp>
      <p:pic>
        <p:nvPicPr>
          <p:cNvPr id="400" name="Dashboard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835712"/>
            <a:ext cx="3703320" cy="2603896"/>
          </a:xfrm>
          <a:prstGeom prst="rect">
            <a:avLst/>
          </a:prstGeom>
          <a:ln w="9525">
            <a:solidFill>
              <a:srgbClr val="3A3560"/>
            </a:solidFill>
          </a:ln>
          <a:effectLst>
            <a:outerShdw blurRad="127000" dist="38100" dir="5400000" rotWithShape="0">
              <a:srgbClr val="000000">
                <a:alpha val="45000"/>
              </a:srgbClr>
            </a:outerShdw>
          </a:effectLst>
        </p:spPr>
      </p:pic>
      <p:sp>
        <p:nvSpPr>
          <p:cNvPr id="18" name="Text 15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A CLAIM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settled payment is independently verifiable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transaction. Real ledger. Real timestamp.
</a:t>
            </a:r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paste the transaction hash into stellar.expert — no need to take our word for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A79B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0050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 Soroban RPC (getTransaction: SUCCESS)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201168" cy="201168"/>
          </a:xfrm>
          <a:prstGeom prst="ellipse">
            <a:avLst/>
          </a:prstGeom>
          <a:solidFill>
            <a:srgbClr val="A79B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independently on Horizon testnet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201168" cy="201168"/>
          </a:xfrm>
          <a:prstGeom prst="ellipse">
            <a:avLst/>
          </a:prstGeom>
          <a:solidFill>
            <a:srgbClr val="A79B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50109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signature verified on-chain before the mandate ran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2011680"/>
            <a:ext cx="5623560" cy="4206240"/>
          </a:xfrm>
          <a:prstGeom prst="rect">
            <a:avLst/>
          </a:prstGeom>
          <a:solidFill>
            <a:srgbClr val="16132C"/>
          </a:solidFill>
          <a:ln w="12700">
            <a:solidFill>
              <a:srgbClr val="4A4470"/>
            </a:solidFill>
            <a:prstDash val="dash"/>
          </a:ln>
        </p:spPr>
      </p:sp>
      <p:pic>
        <p:nvPicPr>
          <p:cNvPr id="300" name="Stellar Exper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18097"/>
            <a:ext cx="5623560" cy="4393406"/>
          </a:xfrm>
          <a:prstGeom prst="rect">
            <a:avLst/>
          </a:prstGeom>
          <a:ln w="9525">
            <a:solidFill>
              <a:srgbClr val="3A3560"/>
            </a:solidFill>
          </a:ln>
          <a:effectLst>
            <a:outerShdw blurRad="127000" dist="38100" dir="5400000" rotWithShape="0">
              <a:srgbClr val="000000">
                <a:alpha val="45000"/>
              </a:srgbClr>
            </a:outerShdw>
          </a:effectLst>
        </p:spPr>
      </p:pic>
      <p:sp>
        <p:nvSpPr>
          <p:cNvPr id="13" name="Text 1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REJECTIONS MATTER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gates — both real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448" y="2148840"/>
            <a:ext cx="5029200" cy="2377440"/>
          </a:xfrm>
          <a:prstGeom prst="roundRect">
            <a:avLst>
              <a:gd name="adj" fmla="val 2308"/>
            </a:avLst>
          </a:prstGeom>
          <a:solidFill>
            <a:srgbClr val="1613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9488" y="2404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29488" y="2715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29488" y="33375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ed25519-verifier checks the agent's real signature. Both rejected calls passed this — the agent proved exactly who it was.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38648" y="2148840"/>
            <a:ext cx="914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553048" y="2148840"/>
            <a:ext cx="5029200" cy="2377440"/>
          </a:xfrm>
          <a:prstGeom prst="roundRect">
            <a:avLst>
              <a:gd name="adj" fmla="val 2308"/>
            </a:avLst>
          </a:prstGeom>
          <a:solidFill>
            <a:srgbClr val="1613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73088" y="2404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73088" y="2715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873088" y="33375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1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mandate-policy then checks amount + allowlist. Both calls were rejected here — for cause, with a specific error code.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09448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valid both times. The agent proved who it was — the mandate still said no.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540000">
            <a:off x="5184648" y="1005840"/>
            <a:ext cx="1828800" cy="1828800"/>
          </a:xfrm>
          <a:prstGeom prst="ellipse">
            <a:avLst/>
          </a:prstGeom>
          <a:ln w="25400">
            <a:solidFill>
              <a:srgbClr val="8078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84648" y="1005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100" kern="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mandate. Approved once.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7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 every decision the agent makes afterward.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7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for the agent — or a bug in its own code — to bypass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mandate-policy · smart-account · ed25519-verifier  —  Soroban on Stellar testnet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2026-09-12T15:47:05Z</dcterms:created>
  <dcterms:modified xsi:type="dcterms:W3CDTF">2026-09-12T15:47:05Z</dcterms:modified>
</cp:coreProperties>
</file>